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74" r:id="rId2"/>
    <p:sldId id="375" r:id="rId3"/>
    <p:sldId id="257" r:id="rId4"/>
    <p:sldId id="376" r:id="rId5"/>
    <p:sldId id="384" r:id="rId6"/>
    <p:sldId id="400" r:id="rId7"/>
    <p:sldId id="377" r:id="rId8"/>
    <p:sldId id="385" r:id="rId9"/>
    <p:sldId id="386" r:id="rId10"/>
    <p:sldId id="388" r:id="rId11"/>
    <p:sldId id="387" r:id="rId12"/>
    <p:sldId id="389" r:id="rId13"/>
    <p:sldId id="390" r:id="rId14"/>
    <p:sldId id="391" r:id="rId15"/>
    <p:sldId id="392" r:id="rId16"/>
    <p:sldId id="378" r:id="rId17"/>
    <p:sldId id="393" r:id="rId18"/>
    <p:sldId id="394" r:id="rId19"/>
    <p:sldId id="399" r:id="rId20"/>
    <p:sldId id="379" r:id="rId21"/>
    <p:sldId id="395" r:id="rId22"/>
    <p:sldId id="396" r:id="rId23"/>
    <p:sldId id="380" r:id="rId24"/>
    <p:sldId id="397" r:id="rId25"/>
    <p:sldId id="398" r:id="rId26"/>
    <p:sldId id="382" r:id="rId27"/>
    <p:sldId id="3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  <a:srgbClr val="E81B25"/>
    <a:srgbClr val="785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8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23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3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08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39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7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50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86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4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7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5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409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22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77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062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 rot="19732614">
            <a:off x="7968337" y="2550815"/>
            <a:ext cx="4302111" cy="548618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0" y="1243506"/>
            <a:ext cx="886597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 S Ramaiah Institute of Technology</a:t>
            </a: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Terminal Crew</a:t>
            </a: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i="0" dirty="0">
                <a:solidFill>
                  <a:srgbClr val="E81B25"/>
                </a:solidFill>
                <a:effectLst/>
                <a:latin typeface="Berlin Sans FB Demi" panose="020E0802020502020306" pitchFamily="34" charset="0"/>
              </a:rPr>
              <a:t>The intelligent terminal agent that keeps your processes running — even when you're away.</a:t>
            </a:r>
            <a:endParaRPr lang="en-US" sz="36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1. Venkata Sai G S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2. K M Dushyanth Gowda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3. Abhishek R Hedge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4. Rohan Joshi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5742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: </a:t>
            </a:r>
            <a:r>
              <a:rPr lang="en-US" sz="4000" b="1" i="0" dirty="0">
                <a:solidFill>
                  <a:srgbClr val="E81B25"/>
                </a:solidFill>
                <a:effectLst/>
              </a:rPr>
              <a:t>Hours Lost to Idle Terminals</a:t>
            </a:r>
            <a:endParaRPr lang="en-US" sz="4000" dirty="0">
              <a:solidFill>
                <a:srgbClr val="E81B2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50D05-DC95-B3EB-93D7-F3B2891EB1D1}"/>
              </a:ext>
            </a:extLst>
          </p:cNvPr>
          <p:cNvSpPr txBox="1"/>
          <p:nvPr/>
        </p:nvSpPr>
        <p:spPr>
          <a:xfrm>
            <a:off x="256136" y="1156797"/>
            <a:ext cx="1167972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en-US" sz="1600" b="1" dirty="0">
                <a:effectLst/>
                <a:latin typeface="Consolas" panose="020B0609020204030204" pitchFamily="49" charset="0"/>
              </a:rPr>
              <a:t>Content — Why Theme 3 (Productivity Platforms)</a:t>
            </a:r>
            <a:endParaRPr lang="en-US" sz="1600" b="0" dirty="0">
              <a:effectLst/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this theme: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We chose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Productivity Platforms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because developers waste hours every day to a problem nobody has solved —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idle terminal prompts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Every developer runs long processes (ML training, Docker builds, CI/CD pipelines, database migrations) that unpredictably pause for user input. When the developer is away — at lunch, in a meeting, or asleep — the process just… stops.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Expensive GPU time ticks away doing nothing.</a:t>
            </a:r>
            <a:endParaRPr lang="en-US" sz="16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problem are you solving: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Terminal processes halt mid-execution waiting for a simple Y/N response. There is no intelligent tool that can: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1.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Detect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when a process is genuinely waiting for input (vs. just logging output)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about what the safe response is, using project context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the developer on their phone with a smart recommendation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Inject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the response back into the terminal — resuming execution instantly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Who faces it (persona): ML Engineers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running overnight training jobs on cloud GPUs ($2.50/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hr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 wasted per idle hour)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DevOps Engineers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managing CI/CD pipelines and Docker builds across multiple servers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Backend Developers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running database migrations that halt for confirmation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Any developer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who has ever come back to their desk only to find their terminal stalled at 							</a:t>
            </a:r>
            <a:r>
              <a:rPr lang="en-US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`[Y/n]:`</a:t>
            </a:r>
            <a:endParaRPr lang="en-US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it's important: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A single ML training stall on an A100 GPU costs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~$2.50/hour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in wasted compute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Enterprise teams report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4-6 terminal prompts per day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interrupting flow state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There is zero developer tooling that addresses this.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The terminal hasn't been modernized since the 1970s.</a:t>
            </a:r>
            <a:endParaRPr lang="en-US" sz="16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64343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Gaps: </a:t>
            </a:r>
            <a:r>
              <a:rPr lang="en-IN" sz="3600" b="1" dirty="0">
                <a:solidFill>
                  <a:srgbClr val="E81B25"/>
                </a:solidFill>
                <a:effectLst/>
              </a:rPr>
              <a:t>Everything Existing Falls Short</a:t>
            </a:r>
            <a:endParaRPr lang="en-IN" sz="3600" b="0" dirty="0">
              <a:solidFill>
                <a:srgbClr val="E81B25"/>
              </a:solidFill>
              <a:effectLst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10640" y="4617448"/>
            <a:ext cx="117707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What's missing (the gap):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No existing tool combines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intelligent prompt detection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context-aware AI reasoning</a:t>
            </a:r>
            <a:r>
              <a:rPr lang="en-US" b="0" dirty="0">
                <a:effectLst/>
                <a:latin typeface="Consolas" panose="020B0609020204030204" pitchFamily="49" charset="0"/>
              </a:rPr>
              <a:t>, and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mobile-first remote response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into a single system. There is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zero AI-powered solution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for autonomous terminal process management.</a:t>
            </a:r>
          </a:p>
          <a:p>
            <a:endParaRPr lang="en-US" sz="800" b="0" dirty="0"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Opportunity: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Build an intelligent agent that wraps any terminal process, distinguishes real prompts from log noise using AI, reasons about the safest action using project-specific rules, and lets developers respond from their phone — turning every terminal session into an autonomous, intelligent workflow.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A87B414-7827-6083-B41F-3DAD0BDF3BC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F8E8BCF-0608-AE98-B267-8A380EB9D290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19E05B-2F75-D85B-0D45-904DB5579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129757"/>
              </p:ext>
            </p:extLst>
          </p:nvPr>
        </p:nvGraphicFramePr>
        <p:xfrm>
          <a:off x="279057" y="1269320"/>
          <a:ext cx="11633886" cy="33048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45474">
                  <a:extLst>
                    <a:ext uri="{9D8B030D-6E8A-4147-A177-3AD203B41FA5}">
                      <a16:colId xmlns:a16="http://schemas.microsoft.com/office/drawing/2014/main" val="568983307"/>
                    </a:ext>
                  </a:extLst>
                </a:gridCol>
                <a:gridCol w="3642582">
                  <a:extLst>
                    <a:ext uri="{9D8B030D-6E8A-4147-A177-3AD203B41FA5}">
                      <a16:colId xmlns:a16="http://schemas.microsoft.com/office/drawing/2014/main" val="810401598"/>
                    </a:ext>
                  </a:extLst>
                </a:gridCol>
                <a:gridCol w="5245830">
                  <a:extLst>
                    <a:ext uri="{9D8B030D-6E8A-4147-A177-3AD203B41FA5}">
                      <a16:colId xmlns:a16="http://schemas.microsoft.com/office/drawing/2014/main" val="1789524615"/>
                    </a:ext>
                  </a:extLst>
                </a:gridCol>
              </a:tblGrid>
              <a:tr h="4702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IT DOES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WHAT'S BROKEN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48496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tmux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screen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Keeps terminal session alive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Still requires manual intervention — you must SSH back and respond yourself. Zero intelligence.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72314949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`yes \| command`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Pipes "yes" to every prompt blindly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Extremely dangerous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no context awareness. Will happily say "yes" to `DROP TABLE users`. Can cause irreversible data loss.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1252708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SSH Keep-alive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Prevents SSH disconnection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prevents disconnection — does nothing about process prompts. Complex setup.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77121999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scripts / expect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Hardcoded response automation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Brittle, per-command, no AI reasoning. Breaks the moment a new prompt appears.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109499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69837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Meet </a:t>
            </a:r>
            <a:r>
              <a:rPr lang="en-IN" sz="44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endParaRPr lang="en-IN" sz="44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67846" y="1865264"/>
            <a:ext cx="118563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we’ve Built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An AI-powered terminal agent that monitors your local processes, intercepts input prompts, reasons about them using your project context, and lets you respond from your phone — keeping your jobs running while you're away.</a:t>
            </a: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Key Features: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🔒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Danger Word Blocking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"DROP", "DELETE", "PURGE", "DESTROY" auto-block AI suggestions and force manual response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📊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Health Monitoring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Real-time CPU%, RAM tracking via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psutil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📝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Full Session Logging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Every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line, silence event, and injection is logged to JSON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📋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Session Summary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Post-mortem delivered to Telegram: duration, prompts resolved, errors detected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🐳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Docker-native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Single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`docker-compose up --build`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to deploy the entire system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4A4E4E0-98A1-39AE-B9C6-45EF08480694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432792B-10D6-6529-1883-BE7F45E27434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666A3-6291-51B5-A45B-8EB5FF334151}"/>
              </a:ext>
            </a:extLst>
          </p:cNvPr>
          <p:cNvSpPr txBox="1"/>
          <p:nvPr/>
        </p:nvSpPr>
        <p:spPr>
          <a:xfrm>
            <a:off x="10074357" y="6199730"/>
            <a:ext cx="2760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P.T.O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21512" y="1318012"/>
            <a:ext cx="117583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Core Ideas: </a:t>
            </a:r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Smart Process Wrapping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wraps any terminal command using a Python PTY (pseudo-terminal). Your process runs exactly as normal, but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silently monitors every line of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in real-time.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3-Layer Prompt Detection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A hybrid classifier that never misses a real prompt: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1: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Regex pattern matching — catches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`[Y/n]`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`Password:`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`Overwrite</a:t>
            </a:r>
            <a:r>
              <a:rPr lang="en-US" b="0" dirty="0">
                <a:effectLst/>
                <a:latin typeface="Consolas" panose="020B0609020204030204" pitchFamily="49" charset="0"/>
              </a:rPr>
              <a:t>?`, etc. instantly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2: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Error signature detection — catches stack traces, fatal errors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3: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LLM Fallback 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US" b="0" dirty="0">
                <a:effectLst/>
                <a:latin typeface="Consolas" panose="020B0609020204030204" pitchFamily="49" charset="0"/>
              </a:rPr>
              <a:t> + Llama 3.3 70B) — if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goes silent for 10+ seconds with no regex match, the AI analyzes the last 20 lines to determine if the process is waiting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Context-Aware AI Reasoning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Powered by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`SOUL.md`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(Project Memory),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reads your project-specific rules before making any recommendation. Example: "overwrite checkpoints: Y if on experiment branch" or "Alert always on DROP/DELETE/PURGE".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Telegram Mobile Response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Instant push notification to your phone with the detected prompt, AI recommendation, and one-tap buttons (✅ Yes / ❌ No / ✏️ Custom / 🔒 Auto). Your response is injected back into the process stdin — it resumes immediately.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92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034E5-E72C-D591-9E30-BACEDA2EA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5" y="596848"/>
            <a:ext cx="11089010" cy="624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6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6243" y="577884"/>
            <a:ext cx="11837773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 : </a:t>
            </a:r>
            <a:r>
              <a:rPr lang="en-US" sz="28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Five Steps to Uninterrupted Execution</a:t>
            </a:r>
            <a:endParaRPr lang="en-US" sz="28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76137BE-AA4A-E6A2-E772-5C04A2FF58A0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32A813B-871E-B11F-6C4C-BEF9FF61B4AB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73065D-09F3-0DFD-9406-53DFC5E66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7147"/>
              </p:ext>
            </p:extLst>
          </p:nvPr>
        </p:nvGraphicFramePr>
        <p:xfrm>
          <a:off x="177114" y="1489387"/>
          <a:ext cx="11837772" cy="44455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1346">
                  <a:extLst>
                    <a:ext uri="{9D8B030D-6E8A-4147-A177-3AD203B41FA5}">
                      <a16:colId xmlns:a16="http://schemas.microsoft.com/office/drawing/2014/main" val="3868322375"/>
                    </a:ext>
                  </a:extLst>
                </a:gridCol>
                <a:gridCol w="2947087">
                  <a:extLst>
                    <a:ext uri="{9D8B030D-6E8A-4147-A177-3AD203B41FA5}">
                      <a16:colId xmlns:a16="http://schemas.microsoft.com/office/drawing/2014/main" val="2934576636"/>
                    </a:ext>
                  </a:extLst>
                </a:gridCol>
                <a:gridCol w="7389339">
                  <a:extLst>
                    <a:ext uri="{9D8B030D-6E8A-4147-A177-3AD203B41FA5}">
                      <a16:colId xmlns:a16="http://schemas.microsoft.com/office/drawing/2014/main" val="2256165977"/>
                    </a:ext>
                  </a:extLst>
                </a:gridCol>
              </a:tblGrid>
              <a:tr h="4382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WHAT HAPPENS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0559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1. Wrap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Developer runs: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devsync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run python train.py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DevSync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spawns the process inside a PTY wrapper.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Stdout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monitoring begins. Gateway WebSocket connects.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1720485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2. Detect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Training reaches: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Checkpoint exists at /runs/exp_041. Overwrite? [Y/n]: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Stdout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goes silent → 10s threshold → Classifier fires: Regex match on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[Y/n]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→ classified as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INPUT_REQUIRED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83654942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3. Reason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AI engine activates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SOUL.md loaded →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Groq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API called with terminal context → Returns: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{recommendation: "Y", reason: "Safe to overwrite on experiment branch", risk: "low"}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71931273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4. Alert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Telegram notification hits your phone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Rich formatted message: Process name, runtime, prompt text, AI suggestion with reason, risk level + inline buttons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0972126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5. Respond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You tap ✅ Yes from your phone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Contract D sent via WebSocket → Response injected into process stdin →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Continuing training...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→ Process resumes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1502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45192" y="2551837"/>
            <a:ext cx="11901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Key Moment — HIGH RISK scenario:</a:t>
            </a:r>
            <a:endParaRPr lang="en-US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Later, the script hits: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`WARNING: This will DROP TABLE users. Confirm? [Y/n]:`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detects "DROP" →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Danger Word Override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activates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AI suggestion is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BLOCKED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no auto-approve allowed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Telegram shows: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`🚨 HIGH RISK DETECTED — Manual response required`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Developer must consciously choose — preventing catastrophic accidents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8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3C137-28E0-EC4D-B4DA-68F1C7DD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6" y="1527142"/>
            <a:ext cx="12012827" cy="4854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451347-374B-78CE-EA66-1BDAEEE006E5}"/>
              </a:ext>
            </a:extLst>
          </p:cNvPr>
          <p:cNvSpPr txBox="1"/>
          <p:nvPr/>
        </p:nvSpPr>
        <p:spPr>
          <a:xfrm>
            <a:off x="513835" y="815204"/>
            <a:ext cx="11164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during Telegram bot connection after </a:t>
            </a:r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docker-compose up --build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and a low risk/normal alert being reproduced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65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D000D8-3EC6-4252-E984-3AEFC3487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537" y="694944"/>
            <a:ext cx="7302926" cy="6055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771007-CEE2-BA29-86CD-DDCAA0054CCD}"/>
              </a:ext>
            </a:extLst>
          </p:cNvPr>
          <p:cNvSpPr txBox="1"/>
          <p:nvPr/>
        </p:nvSpPr>
        <p:spPr>
          <a:xfrm>
            <a:off x="183292" y="3324935"/>
            <a:ext cx="217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Low Risk/Normal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BAE7EA-C4E8-93BC-1D82-22AEEC8E249C}"/>
              </a:ext>
            </a:extLst>
          </p:cNvPr>
          <p:cNvSpPr txBox="1"/>
          <p:nvPr/>
        </p:nvSpPr>
        <p:spPr>
          <a:xfrm>
            <a:off x="9887121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 Telegram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97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DFBB9-A808-7834-95A4-89E34381F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25" y="549190"/>
            <a:ext cx="9529350" cy="6268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D84526-C3DC-E052-572B-409803E089B0}"/>
              </a:ext>
            </a:extLst>
          </p:cNvPr>
          <p:cNvSpPr txBox="1"/>
          <p:nvPr/>
        </p:nvSpPr>
        <p:spPr>
          <a:xfrm>
            <a:off x="3873018" y="103598"/>
            <a:ext cx="4887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after injecting Yes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2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9D690-6573-C552-9857-041E5234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29" y="219456"/>
            <a:ext cx="7382942" cy="6580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EA0B24-C263-3032-6C36-9FC43004B2D3}"/>
              </a:ext>
            </a:extLst>
          </p:cNvPr>
          <p:cNvSpPr txBox="1"/>
          <p:nvPr/>
        </p:nvSpPr>
        <p:spPr>
          <a:xfrm>
            <a:off x="183292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HIGH RISK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6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F084CEC4-224A-4237-478A-7E825D25D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878" y="464411"/>
            <a:ext cx="7582243" cy="6313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35280-49BF-B7DA-7CCB-B2843BA8A315}"/>
              </a:ext>
            </a:extLst>
          </p:cNvPr>
          <p:cNvSpPr txBox="1"/>
          <p:nvPr/>
        </p:nvSpPr>
        <p:spPr>
          <a:xfrm>
            <a:off x="183292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HIGH RISK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4A26C-0DF4-F93A-95E9-8A53F13DE428}"/>
              </a:ext>
            </a:extLst>
          </p:cNvPr>
          <p:cNvSpPr txBox="1"/>
          <p:nvPr/>
        </p:nvSpPr>
        <p:spPr>
          <a:xfrm>
            <a:off x="9887121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 Telegram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6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E961A-EB4D-CD7B-70AE-B97D71776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55" y="694944"/>
            <a:ext cx="8306290" cy="6057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738F2-47D3-1DEE-EE33-1C5F0F792BCD}"/>
              </a:ext>
            </a:extLst>
          </p:cNvPr>
          <p:cNvSpPr txBox="1"/>
          <p:nvPr/>
        </p:nvSpPr>
        <p:spPr>
          <a:xfrm>
            <a:off x="23890" y="3400763"/>
            <a:ext cx="217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after injecting Yes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81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BC60CF-F68D-9ADE-0049-546D0E520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732" y="170408"/>
            <a:ext cx="3322535" cy="6583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BF74F1-513B-517A-EE8B-7E3C37DE5ACE}"/>
              </a:ext>
            </a:extLst>
          </p:cNvPr>
          <p:cNvSpPr txBox="1"/>
          <p:nvPr/>
        </p:nvSpPr>
        <p:spPr>
          <a:xfrm>
            <a:off x="133865" y="3462083"/>
            <a:ext cx="414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Screenshot of the Telegram Bot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95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2719" y="599646"/>
            <a:ext cx="1172656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Architecture: </a:t>
            </a:r>
            <a:r>
              <a:rPr lang="en-US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System Architecture — Modular. Intelligent. Secure.</a:t>
            </a:r>
            <a:endParaRPr lang="en-US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48D3B79-7E8E-ABCA-D574-B2343D03C248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F048837-A89A-E03D-BC10-8A4BB8C96709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9B8BF-20A7-40C9-07AB-B2BF44034D06}"/>
              </a:ext>
            </a:extLst>
          </p:cNvPr>
          <p:cNvSpPr txBox="1"/>
          <p:nvPr/>
        </p:nvSpPr>
        <p:spPr>
          <a:xfrm>
            <a:off x="232719" y="1536838"/>
            <a:ext cx="27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E81B25"/>
                </a:solidFill>
              </a:rPr>
              <a:t>Tech Stack 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469DB7-DA2B-867D-7BA0-0F43ABF37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9419"/>
              </p:ext>
            </p:extLst>
          </p:nvPr>
        </p:nvGraphicFramePr>
        <p:xfrm>
          <a:off x="621819" y="2477968"/>
          <a:ext cx="10460682" cy="3322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12299">
                  <a:extLst>
                    <a:ext uri="{9D8B030D-6E8A-4147-A177-3AD203B41FA5}">
                      <a16:colId xmlns:a16="http://schemas.microsoft.com/office/drawing/2014/main" val="3322323336"/>
                    </a:ext>
                  </a:extLst>
                </a:gridCol>
                <a:gridCol w="7148383">
                  <a:extLst>
                    <a:ext uri="{9D8B030D-6E8A-4147-A177-3AD203B41FA5}">
                      <a16:colId xmlns:a16="http://schemas.microsoft.com/office/drawing/2014/main" val="560895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56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3.11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wrapper (PTY/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psutil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Classifier, Reasoning Engine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1759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Groq</a:t>
                      </a:r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(Llama 3.3 70B)</a:t>
                      </a:r>
                      <a:endParaRPr lang="es-E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Ultra-fast LLM inference for prompt classification &amp; context-aware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3585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Node.js 18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 gateway server, Telegram Bot integration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70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 Bot API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Mobile-first notification &amp; response interface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9162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+ Docker Compose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Single-command deployment, service isolation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6187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 (</a:t>
                      </a: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ws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bidirectional communication between wrapper ↔ gateway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085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psutil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health monitoring (CPU%, RAM, alive status)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4582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33865" y="594310"/>
            <a:ext cx="1197575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AI Usage</a:t>
            </a:r>
            <a:endParaRPr lang="en-IN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AI Model: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— Llama 3.3 70B Versatile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Classifier LLM Fallback: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Analyzes</a:t>
            </a:r>
            <a:r>
              <a:rPr lang="en-IN" b="0" dirty="0">
                <a:effectLst/>
                <a:latin typeface="Consolas" panose="020B0609020204030204" pitchFamily="49" charset="0"/>
              </a:rPr>
              <a:t> terminal output to detect if process is waiting (temperature=0.1, JSON mode)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Reasoning Engine: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Reads SOUL.md + terminal context → generates structured recommendation (Y/N/CUSTOM with reason, confidence, risk)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Response format: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Forced JSON schema for deterministic parsing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Framework: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-aligned architecture — SOUL.md for project memory, modular agent loop, channel adapter pattern (Telegram)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System Flow (Simple)</a:t>
            </a:r>
            <a:endParaRPr lang="en-IN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Process 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stdout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→ Python Wrapper (PTY) → Classifier (Regex + LLM) → Reasoning Engine (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SOUL.md) → Gateway (WebSocket) → Telegram Bot → User taps → Contract D → Wrapper injects stdin → Process resumes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4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015832" y="5992213"/>
            <a:ext cx="1016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had decided to go with </a:t>
            </a:r>
            <a:r>
              <a:rPr lang="en-IN" b="1" dirty="0">
                <a:solidFill>
                  <a:srgbClr val="E81B25"/>
                </a:solidFill>
              </a:rPr>
              <a:t>Claude API</a:t>
            </a:r>
            <a:r>
              <a:rPr lang="en-IN" dirty="0"/>
              <a:t>, but due to the mandatory </a:t>
            </a:r>
            <a:r>
              <a:rPr lang="en-IN" dirty="0" err="1"/>
              <a:t>topup</a:t>
            </a:r>
            <a:r>
              <a:rPr lang="en-IN" dirty="0"/>
              <a:t> of tokens/tickets for the API to actually work, we decided to change and use </a:t>
            </a:r>
            <a:r>
              <a:rPr lang="en-IN" b="1" dirty="0">
                <a:solidFill>
                  <a:srgbClr val="E81B25"/>
                </a:solidFill>
              </a:rPr>
              <a:t>GROQ API </a:t>
            </a:r>
            <a:r>
              <a:rPr lang="en-IN" dirty="0"/>
              <a:t>for the rest of the Project.</a:t>
            </a:r>
            <a:endParaRPr lang="en-IN" b="1" dirty="0">
              <a:solidFill>
                <a:srgbClr val="E81B25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878A2B-D6DB-618F-636B-02FDF66FC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73618"/>
              </p:ext>
            </p:extLst>
          </p:nvPr>
        </p:nvGraphicFramePr>
        <p:xfrm>
          <a:off x="1466883" y="1196663"/>
          <a:ext cx="9079608" cy="2479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2494">
                  <a:extLst>
                    <a:ext uri="{9D8B030D-6E8A-4147-A177-3AD203B41FA5}">
                      <a16:colId xmlns:a16="http://schemas.microsoft.com/office/drawing/2014/main" val="2356365508"/>
                    </a:ext>
                  </a:extLst>
                </a:gridCol>
                <a:gridCol w="2635285">
                  <a:extLst>
                    <a:ext uri="{9D8B030D-6E8A-4147-A177-3AD203B41FA5}">
                      <a16:colId xmlns:a16="http://schemas.microsoft.com/office/drawing/2014/main" val="210626036"/>
                    </a:ext>
                  </a:extLst>
                </a:gridCol>
                <a:gridCol w="5161829">
                  <a:extLst>
                    <a:ext uri="{9D8B030D-6E8A-4147-A177-3AD203B41FA5}">
                      <a16:colId xmlns:a16="http://schemas.microsoft.com/office/drawing/2014/main" val="811378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→ To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44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Wrapper → Classifier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stdout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lines, silence duration, PID, process name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813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Classifier →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type (INPUT_REQUIRED/ERROR/NOISE), prompt text, context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7632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Reasoning → Gateway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recommendation (Y/N/MANUAL), reason, confidence, risk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9191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→ Wrapper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response, mode (manual/auto), PID for injection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58209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86F3365-67F7-25E3-7448-8276E208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16" y="3828295"/>
            <a:ext cx="9907541" cy="210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1638" y="57247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AI Disclosure</a:t>
            </a:r>
            <a:endParaRPr lang="en-IN" sz="4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0330A-2455-7D83-E45B-2835FEF55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161791"/>
              </p:ext>
            </p:extLst>
          </p:nvPr>
        </p:nvGraphicFramePr>
        <p:xfrm>
          <a:off x="1219200" y="2240280"/>
          <a:ext cx="9864811" cy="2377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56238">
                  <a:extLst>
                    <a:ext uri="{9D8B030D-6E8A-4147-A177-3AD203B41FA5}">
                      <a16:colId xmlns:a16="http://schemas.microsoft.com/office/drawing/2014/main" val="287065476"/>
                    </a:ext>
                  </a:extLst>
                </a:gridCol>
                <a:gridCol w="6808573">
                  <a:extLst>
                    <a:ext uri="{9D8B030D-6E8A-4147-A177-3AD203B41FA5}">
                      <a16:colId xmlns:a16="http://schemas.microsoft.com/office/drawing/2014/main" val="323449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45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within the solution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Groq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(Llama 3.3 70B Versatile) — used for terminal prompt classification fallback and context-aware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4397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for development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Copilot / ChatGPT used for code scaffolding, debugging, and documentation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5122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for artifacts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AI-assisted creation of pitch deck visuals, README, and presentation content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87334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32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027" y="956111"/>
            <a:ext cx="11726561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cases: </a:t>
            </a:r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Real-World Impact — Zero Idle Time. 				Zero Interruptions.</a:t>
            </a:r>
            <a:endParaRPr lang="en-US" sz="32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97710" y="2445415"/>
            <a:ext cx="118068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Real Life Scenarios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1: ML Training at 3 AM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🌙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machine learning engineer kicks off a 50-epoch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ResNet</a:t>
            </a:r>
            <a:r>
              <a:rPr lang="en-US" b="0" dirty="0">
                <a:effectLst/>
                <a:latin typeface="Consolas" panose="020B0609020204030204" pitchFamily="49" charset="0"/>
              </a:rPr>
              <a:t> training run on a cloud A100 GPU ($2.50/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effectLst/>
                <a:latin typeface="Consolas" panose="020B0609020204030204" pitchFamily="49" charset="0"/>
              </a:rPr>
              <a:t>) before going to bed. At 3:17 AM, the script hits a checkpoint overwrite prompt.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 GPU sits idle for 6 hours until the engineer wakes up —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$15 wasted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Telegram notification arrives, the AI recommends "Yes — safe to overwrite", the engineer taps from bed, training resumes in under 10 seconds.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2: CI/CD Pipeline in a Meeting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📊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DevOps engineer triggers a production deployment pipeline. Mid-meeting, the pipeline pauses for a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`Proceed with migration? [Y/n]:`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confirmation.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 deployment stalls until the meeting ends — blocking the entire release.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phone buzz, one tap, pipeline continues. Zero disruption.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86E2267-C751-5062-143D-CD29F8728C9C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F7D9D89-BC45-7DBB-C3DF-A644947FF99F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85351" y="1176317"/>
            <a:ext cx="118212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3: Database Migration Safety Net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🛡️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junior developer accidentally runs a migration script that hits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`DROP TABLE users. Confirm?`</a:t>
            </a:r>
            <a:r>
              <a:rPr lang="en-US" b="0" dirty="0"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single careless keystroke could wipe production data.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`DROP`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danger word triggers a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🚨 </a:t>
            </a:r>
            <a:r>
              <a:rPr lang="en-US" b="0" dirty="0">
                <a:effectLst/>
                <a:latin typeface="Consolas" panose="020B0609020204030204" pitchFamily="49" charset="0"/>
              </a:rPr>
              <a:t>HIGH RISK block — AI auto-approve is disabled, forcing the developer to consciously acknowledge the risk. Disaster averted.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4: Docker Build Farm at Scale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🐳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team runs 12 parallel Docker builds across staging servers. Three of them hit different prompts at different times. </a:t>
            </a: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someone has to monitor all 12 terminals.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each prompt arrives as a separate Telegram alert with context. The lead developer resolves all three from their phone in under a minute.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Scale Potential</a:t>
            </a:r>
            <a:endParaRPr lang="en-US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Individual developer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saves 30-60 mins/day of terminal babysitting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Engineering team (10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saves 5-10 hours/day combined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Enterprise (GPU clusters)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prevents thousands of dollars in wasted compute monthly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Open source potential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every developer using a terminal is a potential user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98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635B8D-5CE4-9177-F938-36885A792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24" y="694944"/>
            <a:ext cx="6552871" cy="56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44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91769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</a:t>
            </a:r>
            <a:r>
              <a:rPr lang="en-IN" sz="44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Stands Out</a:t>
            </a:r>
            <a:endParaRPr lang="en-IN" sz="44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B805F8A9-52F8-4A9C-817A-84BA3175EEE9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0164688-6CE3-F9A1-02B6-CEAFB8F04BE8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3AD4DF-4B1E-EC8F-EE3E-9548AD13F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697752"/>
              </p:ext>
            </p:extLst>
          </p:nvPr>
        </p:nvGraphicFramePr>
        <p:xfrm>
          <a:off x="451021" y="2249368"/>
          <a:ext cx="11289957" cy="32166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28541">
                  <a:extLst>
                    <a:ext uri="{9D8B030D-6E8A-4147-A177-3AD203B41FA5}">
                      <a16:colId xmlns:a16="http://schemas.microsoft.com/office/drawing/2014/main" val="707638"/>
                    </a:ext>
                  </a:extLst>
                </a:gridCol>
                <a:gridCol w="1825794">
                  <a:extLst>
                    <a:ext uri="{9D8B030D-6E8A-4147-A177-3AD203B41FA5}">
                      <a16:colId xmlns:a16="http://schemas.microsoft.com/office/drawing/2014/main" val="3631268137"/>
                    </a:ext>
                  </a:extLst>
                </a:gridCol>
                <a:gridCol w="2236573">
                  <a:extLst>
                    <a:ext uri="{9D8B030D-6E8A-4147-A177-3AD203B41FA5}">
                      <a16:colId xmlns:a16="http://schemas.microsoft.com/office/drawing/2014/main" val="629161102"/>
                    </a:ext>
                  </a:extLst>
                </a:gridCol>
                <a:gridCol w="2193324">
                  <a:extLst>
                    <a:ext uri="{9D8B030D-6E8A-4147-A177-3AD203B41FA5}">
                      <a16:colId xmlns:a16="http://schemas.microsoft.com/office/drawing/2014/main" val="2299769118"/>
                    </a:ext>
                  </a:extLst>
                </a:gridCol>
                <a:gridCol w="2305725">
                  <a:extLst>
                    <a:ext uri="{9D8B030D-6E8A-4147-A177-3AD203B41FA5}">
                      <a16:colId xmlns:a16="http://schemas.microsoft.com/office/drawing/2014/main" val="947076513"/>
                    </a:ext>
                  </a:extLst>
                </a:gridCol>
              </a:tblGrid>
              <a:tr h="506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 err="1">
                          <a:solidFill>
                            <a:schemeClr val="tx1"/>
                          </a:solidFill>
                          <a:effectLst/>
                        </a:rPr>
                        <a:t>tmux</a:t>
                      </a: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/screen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yes\|command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SSH keep-alive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 err="1">
                          <a:solidFill>
                            <a:schemeClr val="tx1"/>
                          </a:solidFill>
                          <a:effectLst/>
                        </a:rPr>
                        <a:t>DevSync</a:t>
                      </a:r>
                      <a:endParaRPr lang="en-IN" sz="2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40767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Keeps session alive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276489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Detects prompts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✅ 3 layer AI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26410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Context-aware reasoning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(SOUL.md + LLM)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421854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Mobile notification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(Telegram)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11211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Safe for destructive ops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🚫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</a:rPr>
                        <a:t>Dangerous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(Danger blocking)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4819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One-tap response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98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98283" y="1305341"/>
            <a:ext cx="117954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Strong MOATs</a:t>
            </a:r>
            <a:endParaRPr lang="en-IN" sz="28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MOAT 1: SOUL.md — Project Memory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🧠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No other tool learns your project.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reads a plain-text `SOUL.md` file containing your project-specific rules ("overwrite checkpoints: Y if on experiment branch", "Alert always on DROP/DELETE"). This means recommendations are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customized per project</a:t>
            </a:r>
            <a:r>
              <a:rPr lang="en-IN" b="0" dirty="0">
                <a:effectLst/>
                <a:latin typeface="Consolas" panose="020B0609020204030204" pitchFamily="49" charset="0"/>
              </a:rPr>
              <a:t>, not generic.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 evolves, this becomes durable cognitive memory — surviving restarts, LLM swaps, and context window limits.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MOAT 2: 3-Layer Hybrid Classifier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🎯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Our classifier uses a </a:t>
            </a:r>
            <a:r>
              <a:rPr lang="en-IN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fast→smart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escalation pattern</a:t>
            </a:r>
            <a:r>
              <a:rPr lang="en-IN" b="0" dirty="0">
                <a:effectLst/>
                <a:latin typeface="Consolas" panose="020B0609020204030204" pitchFamily="49" charset="0"/>
              </a:rPr>
              <a:t>: instant regex for known prompts (0ms), error pattern detection for crashes, and an LLM fallback 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— sub-200ms latency) for unknown prompts after silence threshold. This hybrid approach achieves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near-zero false positives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you're never interrupted for log noise, only real prompts. No existing tool does this.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38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AEE275-0680-17E2-1410-7AF5EC97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94" y="742882"/>
            <a:ext cx="10283211" cy="56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06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83221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Link: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01064" y="1283232"/>
            <a:ext cx="113303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dirty="0">
                <a:solidFill>
                  <a:srgbClr val="00B4D8"/>
                </a:solidFill>
                <a:latin typeface="Consolas" panose="020B0609020204030204" pitchFamily="49" charset="0"/>
              </a:rPr>
              <a:t> - </a:t>
            </a:r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GitHub Repo: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🔗 </a:t>
            </a:r>
            <a:r>
              <a:rPr lang="en-IN" b="0" dirty="0">
                <a:effectLst/>
                <a:latin typeface="Consolas" panose="020B0609020204030204" pitchFamily="49" charset="0"/>
              </a:rPr>
              <a:t>“https://github.com/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gsvenkatsai</a:t>
            </a:r>
            <a:r>
              <a:rPr lang="en-IN" b="0" dirty="0"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dirty="0">
                <a:latin typeface="Consolas" panose="020B0609020204030204" pitchFamily="49" charset="0"/>
              </a:rPr>
              <a:t>”</a:t>
            </a:r>
            <a:r>
              <a:rPr lang="en-IN" b="0" dirty="0">
                <a:effectLst/>
                <a:latin typeface="Consolas" panose="020B0609020204030204" pitchFamily="49" charset="0"/>
              </a:rPr>
              <a:t> (branch: </a:t>
            </a:r>
            <a:r>
              <a:rPr lang="en-IN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`dev`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Demo Video: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🎬 </a:t>
            </a:r>
            <a:r>
              <a:rPr lang="en-IN" b="0" dirty="0">
                <a:effectLst/>
                <a:latin typeface="Consolas" panose="020B0609020204030204" pitchFamily="49" charset="0"/>
              </a:rPr>
              <a:t>“https://drive.google.com/file/d/1GBw_srea7mPhZGU-7P4IoZ1_yiL7pHpO/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view?usp</a:t>
            </a:r>
            <a:r>
              <a:rPr lang="en-IN" b="0" dirty="0"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drive_link</a:t>
            </a:r>
            <a:r>
              <a:rPr lang="en-IN" b="0" dirty="0">
                <a:effectLst/>
                <a:latin typeface="Consolas" panose="020B0609020204030204" pitchFamily="49" charset="0"/>
              </a:rPr>
              <a:t>”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Documents Submitted: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📄 </a:t>
            </a:r>
            <a:r>
              <a:rPr lang="en-IN" b="0" dirty="0">
                <a:effectLst/>
                <a:latin typeface="Consolas" panose="020B0609020204030204" pitchFamily="49" charset="0"/>
              </a:rPr>
              <a:t>DevSync_Final_Pitch.pdf — Complete 10-page pitch deck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📄 SOUL.md — Project Memory file (shipped with the repo)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📄 This PPT — terminal_crew.pptx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How to Run (Setup Instructions):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git clone https://github.com/gsvenkatsai/DevSync.git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cd 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FFA65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git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5D6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checkout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5D6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dev</a:t>
            </a:r>
            <a:endParaRPr lang="en-IN" b="0" dirty="0">
              <a:solidFill>
                <a:srgbClr val="BBBEBF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cp .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env.example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.env </a:t>
            </a:r>
            <a:r>
              <a:rPr lang="en-IN" b="0" dirty="0">
                <a:effectLst/>
                <a:latin typeface="Consolas" panose="020B0609020204030204" pitchFamily="49" charset="0"/>
              </a:rPr>
              <a:t>   # Add your Telegram +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keys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docker-compose up --build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6490E88-0386-B223-AF79-29871D92F799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1232921-C60D-6A25-8856-816F51490806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6241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What's Next — The </a:t>
            </a:r>
            <a:r>
              <a:rPr lang="en-US" sz="32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Roadmap:</a:t>
            </a:r>
            <a:endParaRPr lang="en-US" sz="32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82150" y="1035967"/>
            <a:ext cx="1148651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Future Scope &amp; Extras</a:t>
            </a:r>
          </a:p>
          <a:p>
            <a:endParaRPr lang="en-IN" sz="8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Immediate Next Steps: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🔔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Multi-channel support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Discord, Slack, WhatsApp 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 supports all of these via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ProtocolAdapter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📱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Auto-mode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AI auto-responds for low-risk prompts without user intervention (currently tap-only for safety)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🧠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Learning from history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remembers past decisions and adapts SOUL.md recommendations over time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📊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Dashboard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Web UI for monitoring all active processes, history, and analytics</a:t>
            </a:r>
          </a:p>
          <a:p>
            <a:br>
              <a:rPr lang="en-IN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OpenClaw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Alignment: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is built on the same principles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SOUL.md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for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behavioral</a:t>
            </a:r>
            <a:r>
              <a:rPr lang="en-IN" b="0" dirty="0">
                <a:effectLst/>
                <a:latin typeface="Consolas" panose="020B0609020204030204" pitchFamily="49" charset="0"/>
              </a:rPr>
              <a:t> boundaries — same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OpenClaw's</a:t>
            </a:r>
            <a:r>
              <a:rPr lang="en-IN" b="0" dirty="0">
                <a:effectLst/>
                <a:latin typeface="Consolas" panose="020B0609020204030204" pitchFamily="49" charset="0"/>
              </a:rPr>
              <a:t> personality layer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Channel adapter pattern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Telegram today, any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-supported channel tomorrow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Local-first architecture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your data stays on your hardware, swap LLMs freely</a:t>
            </a: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Docker-native isolation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secure execution sandbox</a:t>
            </a:r>
          </a:p>
          <a:p>
            <a:br>
              <a:rPr lang="en-IN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We Learned: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Building a contract-based microservice architecture (Contracts A→B→C→D) made the system modular and testable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Groq's</a:t>
            </a:r>
            <a:r>
              <a:rPr lang="en-IN" b="0" dirty="0">
                <a:effectLst/>
                <a:latin typeface="Consolas" panose="020B0609020204030204" pitchFamily="49" charset="0"/>
              </a:rPr>
              <a:t> sub-200ms inference on Llama 3.3 70B made LLM-in-the-loop viable for real-time terminal monitoring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The PTY wrapper approach is language-agnostic — it works with Python, Node, shell scripts, Docker, anything.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2724</Words>
  <Application>Microsoft Office PowerPoint</Application>
  <PresentationFormat>Widescreen</PresentationFormat>
  <Paragraphs>305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Berlin Sans FB Demi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K.M Dushyanth Gowda</cp:lastModifiedBy>
  <cp:revision>11</cp:revision>
  <dcterms:created xsi:type="dcterms:W3CDTF">2026-04-27T09:11:02Z</dcterms:created>
  <dcterms:modified xsi:type="dcterms:W3CDTF">2026-05-08T18:02:20Z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